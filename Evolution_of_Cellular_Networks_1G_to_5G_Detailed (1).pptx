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90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749808"/>
            <a:ext cx="1938528" cy="329184"/>
          </a:xfrm>
          <a:prstGeom prst="roundRect">
            <a:avLst/>
          </a:prstGeom>
          <a:solidFill>
            <a:srgbClr val="488BE6"/>
          </a:solidFill>
          <a:ln w="10160">
            <a:solidFill>
              <a:srgbClr val="48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63524"/>
            <a:ext cx="1883664" cy="265176"/>
          </a:xfrm>
          <a:prstGeom prst="rect">
            <a:avLst/>
          </a:prstGeom>
          <a:noFill/>
        </p:spPr>
        <p:txBody>
          <a:bodyPr wrap="square" lIns="36576" tIns="27432" rIns="36576" bIns="18288" anchor="ctr">
            <a:spAutoFit/>
          </a:bodyPr>
          <a:lstStyle/>
          <a:p>
            <a:pPr algn="ctr">
              <a:defRPr sz="1000" b="1">
                <a:solidFill>
                  <a:srgbClr val="F7FAFF"/>
                </a:solidFill>
                <a:latin typeface="Aptos"/>
              </a:defRPr>
            </a:pPr>
            <a:r>
              <a:t>MOBILE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81328"/>
            <a:ext cx="6949440" cy="1417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3600" b="1">
                <a:solidFill>
                  <a:srgbClr val="F7FAFF"/>
                </a:solidFill>
                <a:latin typeface="Aptos"/>
              </a:defRPr>
            </a:pPr>
            <a:r>
              <a:t>Evolution of</a:t>
            </a:r>
            <a:br/>
            <a:r>
              <a:t>Cellular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246120"/>
            <a:ext cx="667512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900" b="1">
                <a:solidFill>
                  <a:srgbClr val="2DCDDA"/>
                </a:solidFill>
                <a:latin typeface="Aptos"/>
              </a:defRPr>
            </a:pPr>
            <a:r>
              <a:t>From 1G analogue voice to 5G intelligent connectivity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58768"/>
            <a:ext cx="649224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400" b="0">
                <a:solidFill>
                  <a:srgbClr val="B8C8DC"/>
                </a:solidFill>
                <a:latin typeface="Aptos"/>
              </a:defRPr>
            </a:pPr>
            <a:r>
              <a:t>A clear overview of five generations of mobile communication</a:t>
            </a:r>
          </a:p>
        </p:txBody>
      </p:sp>
      <p:sp>
        <p:nvSpPr>
          <p:cNvPr id="10" name="Oval 9"/>
          <p:cNvSpPr/>
          <p:nvPr/>
        </p:nvSpPr>
        <p:spPr>
          <a:xfrm>
            <a:off x="8686800" y="1234440"/>
            <a:ext cx="749808" cy="749808"/>
          </a:xfrm>
          <a:prstGeom prst="ellipse">
            <a:avLst/>
          </a:prstGeom>
          <a:solidFill>
            <a:srgbClr val="48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921240" y="2011680"/>
            <a:ext cx="566928" cy="566928"/>
          </a:xfrm>
          <a:prstGeom prst="ellipse">
            <a:avLst/>
          </a:prstGeom>
          <a:solidFill>
            <a:srgbClr val="2DC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955279" y="2743200"/>
            <a:ext cx="530352" cy="530352"/>
          </a:xfrm>
          <a:prstGeom prst="ellipse">
            <a:avLst/>
          </a:prstGeom>
          <a:solidFill>
            <a:srgbClr val="FF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0" y="3703320"/>
            <a:ext cx="859536" cy="859536"/>
          </a:xfrm>
          <a:prstGeom prst="ellipse">
            <a:avLst/>
          </a:prstGeom>
          <a:solidFill>
            <a:srgbClr val="B1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424160" y="4297680"/>
            <a:ext cx="502920" cy="502920"/>
          </a:xfrm>
          <a:prstGeom prst="ellipse">
            <a:avLst/>
          </a:prstGeom>
          <a:solidFill>
            <a:srgbClr val="43C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046720" y="4892040"/>
            <a:ext cx="438912" cy="438912"/>
          </a:xfrm>
          <a:prstGeom prst="ellipse">
            <a:avLst/>
          </a:prstGeom>
          <a:solidFill>
            <a:srgbClr val="2DC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9098280" y="1691640"/>
            <a:ext cx="868680" cy="548640"/>
          </a:xfrm>
          <a:prstGeom prst="line">
            <a:avLst/>
          </a:prstGeom>
          <a:ln w="25400">
            <a:solidFill>
              <a:srgbClr val="364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66760" y="3017520"/>
            <a:ext cx="548640" cy="868680"/>
          </a:xfrm>
          <a:prstGeom prst="line">
            <a:avLst/>
          </a:prstGeom>
          <a:ln w="25400">
            <a:solidFill>
              <a:srgbClr val="364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46920" y="4069080"/>
            <a:ext cx="822960" cy="411480"/>
          </a:xfrm>
          <a:prstGeom prst="line">
            <a:avLst/>
          </a:prstGeom>
          <a:ln w="25400">
            <a:solidFill>
              <a:srgbClr val="364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412480" y="4251960"/>
            <a:ext cx="914400" cy="731520"/>
          </a:xfrm>
          <a:prstGeom prst="line">
            <a:avLst/>
          </a:prstGeom>
          <a:ln w="25400">
            <a:solidFill>
              <a:srgbClr val="364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326880" y="2514600"/>
            <a:ext cx="685800" cy="1508760"/>
          </a:xfrm>
          <a:prstGeom prst="line">
            <a:avLst/>
          </a:prstGeom>
          <a:ln w="25400">
            <a:solidFill>
              <a:srgbClr val="364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698480" y="6492240"/>
            <a:ext cx="86868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B8C8DC"/>
                </a:solidFill>
                <a:latin typeface="Aptos"/>
              </a:defRPr>
            </a:pPr>
            <a:r>
              <a:t>01 / 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CB8FDF-D1CA-B77C-8663-C5AC96188F4E}"/>
              </a:ext>
            </a:extLst>
          </p:cNvPr>
          <p:cNvSpPr txBox="1"/>
          <p:nvPr/>
        </p:nvSpPr>
        <p:spPr>
          <a:xfrm>
            <a:off x="626165" y="4800600"/>
            <a:ext cx="31533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Dharani Nivash A 192324280</a:t>
            </a:r>
          </a:p>
          <a:p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Grace Johnson M 192472044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2700" b="1">
                <a:solidFill>
                  <a:srgbClr val="F7FAFF"/>
                </a:solidFill>
                <a:latin typeface="Aptos"/>
              </a:defRPr>
            </a:pPr>
            <a:r>
              <a:t>Understanding Cellular Network Evolution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868680" cy="50292"/>
          </a:xfrm>
          <a:prstGeom prst="rect">
            <a:avLst/>
          </a:prstGeom>
          <a:solidFill>
            <a:srgbClr val="2DCDDA"/>
          </a:solidFill>
          <a:ln w="10160">
            <a:solidFill>
              <a:srgbClr val="2D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24712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B8C8DC"/>
                </a:solidFill>
                <a:latin typeface="Aptos"/>
              </a:defRPr>
            </a:pPr>
            <a:r>
              <a:t>Generations differ in the services and capabilities they make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86868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B8C8DC"/>
                </a:solidFill>
                <a:latin typeface="Aptos"/>
              </a:defRPr>
            </a:pPr>
            <a: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83080"/>
            <a:ext cx="512064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900" b="1">
                <a:solidFill>
                  <a:srgbClr val="2DCDDA"/>
                </a:solidFill>
                <a:latin typeface="Aptos"/>
              </a:defRPr>
            </a:pPr>
            <a:r>
              <a:t>What is a cellular network?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12848"/>
            <a:ext cx="4983480" cy="1200329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Aptos" panose="020B0004020202020204" pitchFamily="34" charset="0"/>
              </a:rPr>
              <a:t>A cellular network is a wireless communication system that connects mobile devices using radio waves and a network of interconnected base stations.</a:t>
            </a:r>
          </a:p>
          <a:p>
            <a:r>
              <a:rPr lang="en-US" sz="1500" dirty="0">
                <a:solidFill>
                  <a:schemeClr val="bg1"/>
                </a:solidFill>
                <a:latin typeface="Aptos" panose="020B0004020202020204" pitchFamily="34" charset="0"/>
              </a:rPr>
              <a:t>The service area is divided into smaller geographical regions called </a:t>
            </a:r>
            <a:r>
              <a:rPr lang="en-US" sz="1500" b="1" dirty="0">
                <a:solidFill>
                  <a:schemeClr val="bg1"/>
                </a:solidFill>
                <a:latin typeface="Aptos" panose="020B0004020202020204" pitchFamily="34" charset="0"/>
              </a:rPr>
              <a:t>cells</a:t>
            </a:r>
            <a:r>
              <a:rPr lang="en-US" sz="1500" dirty="0">
                <a:solidFill>
                  <a:schemeClr val="bg1"/>
                </a:solidFill>
                <a:latin typeface="Aptos" panose="020B0004020202020204" pitchFamily="34" charset="0"/>
              </a:rPr>
              <a:t>, each served by a base station.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783080"/>
            <a:ext cx="475488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900" b="1">
                <a:solidFill>
                  <a:srgbClr val="FFB24C"/>
                </a:solidFill>
                <a:latin typeface="Aptos"/>
              </a:defRPr>
            </a:pPr>
            <a:r>
              <a:t>Why did networks evolve?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212848"/>
            <a:ext cx="4892040" cy="1458861"/>
          </a:xfrm>
          <a:prstGeom prst="rect">
            <a:avLst/>
          </a:prstGeom>
          <a:noFill/>
        </p:spPr>
        <p:txBody>
          <a:bodyPr wrap="square" lIns="27432" tIns="27432" rIns="4572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ptos" panose="020B0004020202020204" pitchFamily="34" charset="0"/>
              </a:rPr>
              <a:t>To improve voice communication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ptos" panose="020B0004020202020204" pitchFamily="34" charset="0"/>
              </a:rPr>
              <a:t>To increase data transmission speed.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ptos" panose="020B0004020202020204" pitchFamily="34" charset="0"/>
              </a:rPr>
              <a:t>To support internet access and multimedia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ptos" panose="020B0004020202020204" pitchFamily="34" charset="0"/>
              </a:rPr>
              <a:t>To connect more users simultaneously.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ptos" panose="020B0004020202020204" pitchFamily="34" charset="0"/>
              </a:rPr>
              <a:t>To improve network coverage, capacity, and reliability.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755648" cy="694944"/>
          </a:xfrm>
          <a:prstGeom prst="roundRect">
            <a:avLst/>
          </a:prstGeom>
          <a:solidFill>
            <a:srgbClr val="1C3556"/>
          </a:solidFill>
          <a:ln w="10160">
            <a:solidFill>
              <a:srgbClr val="B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4800600"/>
            <a:ext cx="1682496" cy="457200"/>
          </a:xfrm>
          <a:prstGeom prst="rect">
            <a:avLst/>
          </a:prstGeom>
          <a:noFill/>
        </p:spPr>
        <p:txBody>
          <a:bodyPr wrap="square" lIns="36576" tIns="27432" rIns="36576" bIns="18288" anchor="ctr">
            <a:spAutoFit/>
          </a:bodyPr>
          <a:lstStyle/>
          <a:p>
            <a:pPr algn="ctr">
              <a:defRPr sz="1300" b="1">
                <a:solidFill>
                  <a:srgbClr val="B8C8DC"/>
                </a:solidFill>
                <a:latin typeface="Aptos"/>
              </a:defRPr>
            </a:pPr>
            <a:r>
              <a:t>1G · 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4892040"/>
            <a:ext cx="365760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defRPr sz="1700" b="1">
                <a:solidFill>
                  <a:srgbClr val="B8C8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4709160"/>
            <a:ext cx="1755648" cy="694944"/>
          </a:xfrm>
          <a:prstGeom prst="roundRect">
            <a:avLst/>
          </a:prstGeom>
          <a:solidFill>
            <a:srgbClr val="1C3556"/>
          </a:solidFill>
          <a:ln w="10160">
            <a:solidFill>
              <a:srgbClr val="48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08376" y="4800600"/>
            <a:ext cx="1682496" cy="457200"/>
          </a:xfrm>
          <a:prstGeom prst="rect">
            <a:avLst/>
          </a:prstGeom>
          <a:noFill/>
        </p:spPr>
        <p:txBody>
          <a:bodyPr wrap="square" lIns="36576" tIns="27432" rIns="36576" bIns="18288" anchor="ctr">
            <a:spAutoFit/>
          </a:bodyPr>
          <a:lstStyle/>
          <a:p>
            <a:pPr algn="ctr">
              <a:defRPr sz="1300" b="1">
                <a:solidFill>
                  <a:srgbClr val="488BE6"/>
                </a:solidFill>
                <a:latin typeface="Aptos"/>
              </a:defRPr>
            </a:pPr>
            <a:r>
              <a:t>2G · Digital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892040"/>
            <a:ext cx="365760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defRPr sz="1700" b="1">
                <a:solidFill>
                  <a:srgbClr val="B8C8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4709160"/>
            <a:ext cx="1755648" cy="694944"/>
          </a:xfrm>
          <a:prstGeom prst="roundRect">
            <a:avLst/>
          </a:prstGeom>
          <a:solidFill>
            <a:srgbClr val="1C3556"/>
          </a:solidFill>
          <a:ln w="10160">
            <a:solidFill>
              <a:srgbClr val="43C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48656" y="4800600"/>
            <a:ext cx="1682496" cy="457200"/>
          </a:xfrm>
          <a:prstGeom prst="rect">
            <a:avLst/>
          </a:prstGeom>
          <a:noFill/>
        </p:spPr>
        <p:txBody>
          <a:bodyPr wrap="square" lIns="36576" tIns="27432" rIns="36576" bIns="18288" anchor="ctr">
            <a:spAutoFit/>
          </a:bodyPr>
          <a:lstStyle/>
          <a:p>
            <a:pPr algn="ctr">
              <a:defRPr sz="1300" b="1">
                <a:solidFill>
                  <a:srgbClr val="43CCA0"/>
                </a:solidFill>
                <a:latin typeface="Aptos"/>
              </a:defRPr>
            </a:pPr>
            <a:r>
              <a:t>3G · Internet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892040"/>
            <a:ext cx="365760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defRPr sz="1700" b="1">
                <a:solidFill>
                  <a:srgbClr val="B8C8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4709160"/>
            <a:ext cx="1755648" cy="694944"/>
          </a:xfrm>
          <a:prstGeom prst="roundRect">
            <a:avLst/>
          </a:prstGeom>
          <a:solidFill>
            <a:srgbClr val="1C3556"/>
          </a:solidFill>
          <a:ln w="10160"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88936" y="4800600"/>
            <a:ext cx="1682496" cy="457200"/>
          </a:xfrm>
          <a:prstGeom prst="rect">
            <a:avLst/>
          </a:prstGeom>
          <a:noFill/>
        </p:spPr>
        <p:txBody>
          <a:bodyPr wrap="square" lIns="36576" tIns="27432" rIns="36576" bIns="18288" anchor="ctr">
            <a:spAutoFit/>
          </a:bodyPr>
          <a:lstStyle/>
          <a:p>
            <a:pPr algn="ctr">
              <a:defRPr sz="1300" b="1">
                <a:solidFill>
                  <a:srgbClr val="FFB24C"/>
                </a:solidFill>
                <a:latin typeface="Aptos"/>
              </a:defRPr>
            </a:pPr>
            <a:r>
              <a:t>4G · Broadband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892040"/>
            <a:ext cx="365760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defRPr sz="1700" b="1">
                <a:solidFill>
                  <a:srgbClr val="B8C8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4709160"/>
            <a:ext cx="1755648" cy="694944"/>
          </a:xfrm>
          <a:prstGeom prst="roundRect">
            <a:avLst/>
          </a:prstGeom>
          <a:solidFill>
            <a:srgbClr val="1C3556"/>
          </a:solidFill>
          <a:ln w="10160">
            <a:solidFill>
              <a:srgbClr val="B18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29216" y="4800600"/>
            <a:ext cx="1682496" cy="457200"/>
          </a:xfrm>
          <a:prstGeom prst="rect">
            <a:avLst/>
          </a:prstGeom>
          <a:noFill/>
        </p:spPr>
        <p:txBody>
          <a:bodyPr wrap="square" lIns="36576" tIns="27432" rIns="36576" bIns="18288" anchor="ctr">
            <a:spAutoFit/>
          </a:bodyPr>
          <a:lstStyle/>
          <a:p>
            <a:pPr algn="ctr">
              <a:defRPr sz="1300" b="1">
                <a:solidFill>
                  <a:srgbClr val="B18BF5"/>
                </a:solidFill>
                <a:latin typeface="Aptos"/>
              </a:defRPr>
            </a:pPr>
            <a:r>
              <a:t>5G · Connected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2700" b="1">
                <a:solidFill>
                  <a:srgbClr val="F7FAFF"/>
                </a:solidFill>
                <a:latin typeface="Aptos"/>
              </a:defRPr>
            </a:pPr>
            <a:r>
              <a:t>How a Cellular Network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868680" cy="50292"/>
          </a:xfrm>
          <a:prstGeom prst="rect">
            <a:avLst/>
          </a:prstGeom>
          <a:solidFill>
            <a:srgbClr val="2DCDDA"/>
          </a:solidFill>
          <a:ln w="10160">
            <a:solidFill>
              <a:srgbClr val="2D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24712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B8C8DC"/>
                </a:solidFill>
                <a:latin typeface="Aptos"/>
              </a:defRPr>
            </a:pPr>
            <a:r>
              <a:t>The same basic network idea underpins multiple generations.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86868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B8C8DC"/>
                </a:solidFill>
                <a:latin typeface="Aptos"/>
              </a:defRPr>
            </a:pPr>
            <a:r>
              <a:t>03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2148840" cy="150876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2176272"/>
            <a:ext cx="183794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300" b="1">
                <a:solidFill>
                  <a:srgbClr val="488BE6"/>
                </a:solidFill>
                <a:latin typeface="Aptos"/>
              </a:defRPr>
            </a:pPr>
            <a:r>
              <a:t>MOBILE 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60320"/>
            <a:ext cx="1837944" cy="923543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F7FAFF"/>
                </a:solidFill>
                <a:latin typeface="Aptos"/>
              </a:defRPr>
            </a:pPr>
            <a:r>
              <a:t>Sends and receives</a:t>
            </a:r>
            <a:br/>
            <a:r>
              <a:t>radio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3512" y="2578608"/>
            <a:ext cx="438912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defRPr sz="2200" b="1">
                <a:solidFill>
                  <a:srgbClr val="B8C8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057400"/>
            <a:ext cx="2148840" cy="150876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2176272"/>
            <a:ext cx="183794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300" b="1">
                <a:solidFill>
                  <a:srgbClr val="2DCDDA"/>
                </a:solidFill>
                <a:latin typeface="Aptos"/>
              </a:defRPr>
            </a:pPr>
            <a:r>
              <a:t>BASE STATION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560320"/>
            <a:ext cx="1837944" cy="923543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F7FAFF"/>
                </a:solidFill>
                <a:latin typeface="Aptos"/>
              </a:defRPr>
            </a:pPr>
            <a:r>
              <a:t>Connects the device</a:t>
            </a:r>
            <a:br/>
            <a:r>
              <a:t>to radio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3872" y="2578608"/>
            <a:ext cx="438912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defRPr sz="2200" b="1">
                <a:solidFill>
                  <a:srgbClr val="B8C8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057400"/>
            <a:ext cx="2148840" cy="150876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2176272"/>
            <a:ext cx="183794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300" b="1">
                <a:solidFill>
                  <a:srgbClr val="B18BF5"/>
                </a:solidFill>
                <a:latin typeface="Aptos"/>
              </a:defRPr>
            </a:pPr>
            <a:r>
              <a:t>CORE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560320"/>
            <a:ext cx="1837944" cy="923543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F7FAFF"/>
                </a:solidFill>
                <a:latin typeface="Aptos"/>
              </a:defRPr>
            </a:pPr>
            <a:r>
              <a:t>Manages access and</a:t>
            </a:r>
            <a:br/>
            <a:r>
              <a:t>routes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2578608"/>
            <a:ext cx="438912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defRPr sz="2200" b="1">
                <a:solidFill>
                  <a:srgbClr val="B8C8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057400"/>
            <a:ext cx="2148840" cy="150876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82328" y="2176272"/>
            <a:ext cx="183794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300" b="1">
                <a:solidFill>
                  <a:srgbClr val="FFB24C"/>
                </a:solidFill>
                <a:latin typeface="Aptos"/>
              </a:defRPr>
            </a:pPr>
            <a:r>
              <a:t>DESTINATION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2560320"/>
            <a:ext cx="1837944" cy="923543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F7FAFF"/>
                </a:solidFill>
                <a:latin typeface="Aptos"/>
              </a:defRPr>
            </a:pPr>
            <a:r>
              <a:t>Another phone or</a:t>
            </a:r>
            <a:br/>
            <a:r>
              <a:t>internet 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60520"/>
            <a:ext cx="3429000" cy="123444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4279392"/>
            <a:ext cx="311810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500" b="1">
                <a:solidFill>
                  <a:srgbClr val="2DCDDA"/>
                </a:solidFill>
                <a:latin typeface="Aptos"/>
              </a:defRPr>
            </a:pPr>
            <a:r>
              <a:t>CELL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663440"/>
            <a:ext cx="3118104" cy="649224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F7FAFF"/>
                </a:solidFill>
                <a:latin typeface="Aptos"/>
              </a:defRPr>
            </a:pPr>
            <a:r>
              <a:t>A geographical area served by radio equipment.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160520"/>
            <a:ext cx="3429000" cy="123444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44568" y="4279392"/>
            <a:ext cx="311810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500" b="1">
                <a:solidFill>
                  <a:srgbClr val="43CCA0"/>
                </a:solidFill>
                <a:latin typeface="Aptos"/>
              </a:defRPr>
            </a:pPr>
            <a:r>
              <a:t>HANDOFF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4663440"/>
            <a:ext cx="3118104" cy="649224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F7FAFF"/>
                </a:solidFill>
                <a:latin typeface="Aptos"/>
              </a:defRPr>
            </a:pPr>
            <a:r>
              <a:t>As users move, connections can shift between cells.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4160520"/>
            <a:ext cx="3429000" cy="123444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56448" y="4279392"/>
            <a:ext cx="311810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500" b="1">
                <a:solidFill>
                  <a:srgbClr val="FFB24C"/>
                </a:solidFill>
                <a:latin typeface="Aptos"/>
              </a:defRPr>
            </a:pPr>
            <a:r>
              <a:t>RADIO SPECTRUM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4663440"/>
            <a:ext cx="3118104" cy="649224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F7FAFF"/>
                </a:solidFill>
                <a:latin typeface="Aptos"/>
              </a:defRPr>
            </a:pPr>
            <a:r>
              <a:t>Limited frequencies are managed to serve many users.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2700" b="1">
                <a:solidFill>
                  <a:srgbClr val="F7FAFF"/>
                </a:solidFill>
                <a:latin typeface="Aptos"/>
              </a:defRPr>
            </a:pPr>
            <a:r>
              <a:t>1G — First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868680" cy="50292"/>
          </a:xfrm>
          <a:prstGeom prst="rect">
            <a:avLst/>
          </a:prstGeom>
          <a:solidFill>
            <a:srgbClr val="2DCDDA"/>
          </a:solidFill>
          <a:ln w="10160">
            <a:solidFill>
              <a:srgbClr val="2D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24712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B8C8DC"/>
                </a:solidFill>
                <a:latin typeface="Aptos"/>
              </a:defRPr>
            </a:pPr>
            <a:r>
              <a:t>Late 1970s–1980s · The beginning of cellular voice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86868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B8C8DC"/>
                </a:solidFill>
                <a:latin typeface="Aptos"/>
              </a:defRPr>
            </a:pPr>
            <a:r>
              <a:t>04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19072"/>
            <a:ext cx="1600200" cy="329184"/>
          </a:xfrm>
          <a:prstGeom prst="roundRect">
            <a:avLst/>
          </a:prstGeom>
          <a:solidFill>
            <a:srgbClr val="B8C8DC"/>
          </a:solidFill>
          <a:ln w="10160">
            <a:solidFill>
              <a:srgbClr val="B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2787"/>
            <a:ext cx="1545336" cy="265176"/>
          </a:xfrm>
          <a:prstGeom prst="rect">
            <a:avLst/>
          </a:prstGeom>
          <a:noFill/>
        </p:spPr>
        <p:txBody>
          <a:bodyPr wrap="square" lIns="36576" tIns="27432" rIns="36576" bIns="18288" anchor="ctr">
            <a:spAutoFit/>
          </a:bodyPr>
          <a:lstStyle/>
          <a:p>
            <a:pPr algn="ctr">
              <a:defRPr sz="1000" b="1">
                <a:solidFill>
                  <a:srgbClr val="F7FAFF"/>
                </a:solidFill>
                <a:latin typeface="Aptos"/>
              </a:defRPr>
            </a:pPr>
            <a:r>
              <a:t>ANALOGUE 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67712"/>
            <a:ext cx="6400800" cy="1735860"/>
          </a:xfrm>
          <a:prstGeom prst="rect">
            <a:avLst/>
          </a:prstGeom>
          <a:noFill/>
        </p:spPr>
        <p:txBody>
          <a:bodyPr wrap="square" lIns="27432" tIns="27432" rIns="4572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Used analog radio signals to transmit voice.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Commonly used Frequency Division Multiple Access (FDMA).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Supported basic mobile telephone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Had limited network capacity and relatively poor voice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Offered weak security and was vulnerable to eavesdropping.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938528"/>
            <a:ext cx="3337560" cy="114300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73568" y="2057400"/>
            <a:ext cx="3026664" cy="276999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500" b="1">
                <a:solidFill>
                  <a:srgbClr val="2DCDDA"/>
                </a:solidFill>
                <a:latin typeface="Aptos"/>
              </a:defRPr>
            </a:pPr>
            <a:r>
              <a:rPr dirty="0"/>
              <a:t>MAIN ADVAN</a:t>
            </a:r>
            <a:r>
              <a:rPr lang="en-IN" dirty="0"/>
              <a:t>TAGE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973568" y="2334399"/>
            <a:ext cx="3026664" cy="78483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Enabled wireless voice communication while travelling.</a:t>
            </a:r>
          </a:p>
          <a:p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Reduced dependence on fixed telephone 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337560"/>
            <a:ext cx="3337560" cy="114300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3456432"/>
            <a:ext cx="302666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500" b="1">
                <a:solidFill>
                  <a:srgbClr val="FFB24C"/>
                </a:solidFill>
                <a:latin typeface="Aptos"/>
              </a:defRPr>
            </a:pPr>
            <a:r>
              <a:t>MAIN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3840480"/>
            <a:ext cx="3026664" cy="557784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F7FAFF"/>
                </a:solidFill>
                <a:latin typeface="Aptos"/>
              </a:defRPr>
            </a:pPr>
            <a:r>
              <a:rPr dirty="0"/>
              <a:t>Limited capacity, weak privacy, noise and expensive bulky phones.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069848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300" b="0">
                <a:solidFill>
                  <a:srgbClr val="B8C8DC"/>
                </a:solidFill>
                <a:latin typeface="Aptos"/>
              </a:defRPr>
            </a:pPr>
            <a:r>
              <a:t>Why it changed: digital systems could use radio resources more efficiently and support new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2700" b="1">
                <a:solidFill>
                  <a:srgbClr val="F7FAFF"/>
                </a:solidFill>
                <a:latin typeface="Aptos"/>
              </a:defRPr>
            </a:pPr>
            <a:r>
              <a:t>2G — Second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868680" cy="50292"/>
          </a:xfrm>
          <a:prstGeom prst="rect">
            <a:avLst/>
          </a:prstGeom>
          <a:solidFill>
            <a:srgbClr val="2DCDDA"/>
          </a:solidFill>
          <a:ln w="10160">
            <a:solidFill>
              <a:srgbClr val="2D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24712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B8C8DC"/>
                </a:solidFill>
                <a:latin typeface="Aptos"/>
              </a:defRPr>
            </a:pPr>
            <a:r>
              <a:t>1990s · Digital voice, messaging and the first steps toward mobile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86868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B8C8DC"/>
                </a:solidFill>
                <a:latin typeface="Aptos"/>
              </a:defRPr>
            </a:pPr>
            <a:r>
              <a:t>05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19072"/>
            <a:ext cx="1965960" cy="329184"/>
          </a:xfrm>
          <a:prstGeom prst="roundRect">
            <a:avLst/>
          </a:prstGeom>
          <a:solidFill>
            <a:srgbClr val="488BE6"/>
          </a:solidFill>
          <a:ln w="10160">
            <a:solidFill>
              <a:srgbClr val="48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2787"/>
            <a:ext cx="1911095" cy="265176"/>
          </a:xfrm>
          <a:prstGeom prst="rect">
            <a:avLst/>
          </a:prstGeom>
          <a:noFill/>
        </p:spPr>
        <p:txBody>
          <a:bodyPr wrap="square" lIns="36576" tIns="27432" rIns="36576" bIns="18288" anchor="ctr">
            <a:spAutoFit/>
          </a:bodyPr>
          <a:lstStyle/>
          <a:p>
            <a:pPr algn="ctr">
              <a:defRPr sz="1000" b="1">
                <a:solidFill>
                  <a:srgbClr val="F7FAFF"/>
                </a:solidFill>
                <a:latin typeface="Aptos"/>
              </a:defRPr>
            </a:pPr>
            <a:r>
              <a:t>DIGITAL VOICE + SMS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67712"/>
            <a:ext cx="6629400" cy="1735860"/>
          </a:xfrm>
          <a:prstGeom prst="rect">
            <a:avLst/>
          </a:prstGeom>
          <a:noFill/>
        </p:spPr>
        <p:txBody>
          <a:bodyPr wrap="square" lIns="27432" tIns="27432" rIns="4572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Replaced analog transmission with digital signals.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Improved voice quality and network capacity.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Introduced text messaging (SMS).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Provided better security through digital authentication and encryption.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Enabled early mobile data 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965960"/>
            <a:ext cx="3246120" cy="109728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19288" y="2084831"/>
            <a:ext cx="293522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500" b="1">
                <a:solidFill>
                  <a:srgbClr val="2DCDDA"/>
                </a:solidFill>
                <a:latin typeface="Aptos"/>
              </a:defRPr>
            </a:pPr>
            <a:r>
              <a:t>KEY TERMS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9288" y="2468880"/>
            <a:ext cx="2935224" cy="512063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F7FAFF"/>
                </a:solidFill>
                <a:latin typeface="Aptos"/>
              </a:defRPr>
            </a:pPr>
            <a:r>
              <a:t>GSM · TDMA · CDMA · SMS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337560"/>
            <a:ext cx="3246120" cy="109728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19288" y="3456432"/>
            <a:ext cx="293522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500" b="1">
                <a:solidFill>
                  <a:srgbClr val="43CCA0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3840480"/>
            <a:ext cx="2935224" cy="600164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Better spectrum efficiency than 1G.</a:t>
            </a:r>
          </a:p>
          <a:p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Improved voice quality and security.</a:t>
            </a:r>
          </a:p>
          <a:p>
            <a:pPr algn="l">
              <a:defRPr sz="1200" b="0">
                <a:solidFill>
                  <a:srgbClr val="F7FAFF"/>
                </a:solidFill>
                <a:latin typeface="Aptos"/>
              </a:defRPr>
            </a:pPr>
            <a:r>
              <a:rPr sz="1200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709160"/>
            <a:ext cx="3246120" cy="91440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19288" y="4828032"/>
            <a:ext cx="293522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500" b="1">
                <a:solidFill>
                  <a:srgbClr val="FFB24C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5212080"/>
            <a:ext cx="2935224" cy="329184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F7FAFF"/>
                </a:solidFill>
                <a:latin typeface="Aptos"/>
              </a:defRPr>
            </a:pPr>
            <a:r>
              <a:t>Data remained slow by modern standards.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2700" b="1">
                <a:solidFill>
                  <a:srgbClr val="F7FAFF"/>
                </a:solidFill>
                <a:latin typeface="Aptos"/>
              </a:defRPr>
            </a:pPr>
            <a:r>
              <a:t>3G — Third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868680" cy="50292"/>
          </a:xfrm>
          <a:prstGeom prst="rect">
            <a:avLst/>
          </a:prstGeom>
          <a:solidFill>
            <a:srgbClr val="2DCDDA"/>
          </a:solidFill>
          <a:ln w="10160">
            <a:solidFill>
              <a:srgbClr val="2D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24712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B8C8DC"/>
                </a:solidFill>
                <a:latin typeface="Aptos"/>
              </a:defRPr>
            </a:pPr>
            <a:r>
              <a:t>2000s · Mobile internet becomes much more 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86868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B8C8DC"/>
                </a:solidFill>
                <a:latin typeface="Aptos"/>
              </a:defRPr>
            </a:pPr>
            <a:r>
              <a:t>06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19072"/>
            <a:ext cx="1664208" cy="329184"/>
          </a:xfrm>
          <a:prstGeom prst="roundRect">
            <a:avLst/>
          </a:prstGeom>
          <a:solidFill>
            <a:srgbClr val="43CCA0"/>
          </a:solidFill>
          <a:ln w="10160">
            <a:solidFill>
              <a:srgbClr val="43C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2787"/>
            <a:ext cx="1609344" cy="265176"/>
          </a:xfrm>
          <a:prstGeom prst="rect">
            <a:avLst/>
          </a:prstGeom>
          <a:noFill/>
        </p:spPr>
        <p:txBody>
          <a:bodyPr wrap="square" lIns="36576" tIns="27432" rIns="36576" bIns="18288" anchor="ctr">
            <a:spAutoFit/>
          </a:bodyPr>
          <a:lstStyle/>
          <a:p>
            <a:pPr algn="ctr">
              <a:defRPr sz="1000" b="1">
                <a:solidFill>
                  <a:srgbClr val="F7FAFF"/>
                </a:solidFill>
                <a:latin typeface="Aptos"/>
              </a:defRPr>
            </a:pPr>
            <a:r>
              <a:t>MOBILE 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67712"/>
            <a:ext cx="6583680" cy="1458861"/>
          </a:xfrm>
          <a:prstGeom prst="rect">
            <a:avLst/>
          </a:prstGeom>
          <a:noFill/>
        </p:spPr>
        <p:txBody>
          <a:bodyPr wrap="square" lIns="27432" tIns="27432" rIns="4572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Improved mobile data transmission speeds.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Enabled web browsing and email on mobile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Supported video calling and multimedia messaging.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Improved roaming capabilities and data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Supported early app-based mobile experiences.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965960"/>
            <a:ext cx="3246120" cy="109728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19288" y="2084831"/>
            <a:ext cx="293522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500" b="1">
                <a:solidFill>
                  <a:srgbClr val="2DCDDA"/>
                </a:solidFill>
                <a:latin typeface="Aptos"/>
              </a:defRPr>
            </a:pPr>
            <a:r>
              <a:t>KEY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9288" y="2468880"/>
            <a:ext cx="2935224" cy="512063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F7FAFF"/>
                </a:solidFill>
                <a:latin typeface="Aptos"/>
              </a:defRPr>
            </a:pPr>
            <a:r>
              <a:t>Mobile phones increasingly became internet devices.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337560"/>
            <a:ext cx="3246120" cy="109728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19288" y="3456432"/>
            <a:ext cx="293522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500" b="1">
                <a:solidFill>
                  <a:srgbClr val="43CCA0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3840480"/>
            <a:ext cx="2935224" cy="512063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F7FAFF"/>
                </a:solidFill>
                <a:latin typeface="Aptos"/>
              </a:defRPr>
            </a:pPr>
            <a:r>
              <a:t>Richer applications, improved data rates and multimedia support.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709160"/>
            <a:ext cx="3246120" cy="91440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19288" y="4828032"/>
            <a:ext cx="293522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500" b="1">
                <a:solidFill>
                  <a:srgbClr val="FFB24C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5212080"/>
            <a:ext cx="2935224" cy="329184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F7FAFF"/>
                </a:solidFill>
                <a:latin typeface="Aptos"/>
              </a:defRPr>
            </a:pPr>
            <a:r>
              <a:t>Could not match later broadband networks.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2700" b="1">
                <a:solidFill>
                  <a:srgbClr val="F7FAFF"/>
                </a:solidFill>
                <a:latin typeface="Aptos"/>
              </a:defRPr>
            </a:pPr>
            <a:r>
              <a:t>4G — Fourth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868680" cy="50292"/>
          </a:xfrm>
          <a:prstGeom prst="rect">
            <a:avLst/>
          </a:prstGeom>
          <a:solidFill>
            <a:srgbClr val="2DCDDA"/>
          </a:solidFill>
          <a:ln w="10160">
            <a:solidFill>
              <a:srgbClr val="2D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24712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B8C8DC"/>
                </a:solidFill>
                <a:latin typeface="Aptos"/>
              </a:defRPr>
            </a:pPr>
            <a:r>
              <a:t>2010s · High-speed mobile broadband and IP-based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86868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B8C8DC"/>
                </a:solidFill>
                <a:latin typeface="Aptos"/>
              </a:defRPr>
            </a:pPr>
            <a:r>
              <a:t>07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19072"/>
            <a:ext cx="1600200" cy="329184"/>
          </a:xfrm>
          <a:prstGeom prst="roundRect">
            <a:avLst/>
          </a:prstGeom>
          <a:solidFill>
            <a:srgbClr val="FFB24C"/>
          </a:solidFill>
          <a:ln w="10160"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2787"/>
            <a:ext cx="1545336" cy="265176"/>
          </a:xfrm>
          <a:prstGeom prst="rect">
            <a:avLst/>
          </a:prstGeom>
          <a:noFill/>
        </p:spPr>
        <p:txBody>
          <a:bodyPr wrap="square" lIns="36576" tIns="27432" rIns="36576" bIns="18288" anchor="ctr">
            <a:spAutoFit/>
          </a:bodyPr>
          <a:lstStyle/>
          <a:p>
            <a:pPr algn="ctr">
              <a:defRPr sz="1000" b="1">
                <a:solidFill>
                  <a:srgbClr val="F7FAFF"/>
                </a:solidFill>
                <a:latin typeface="Aptos"/>
              </a:defRPr>
            </a:pPr>
            <a:r>
              <a:t>LTE BROADBAND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67712"/>
            <a:ext cx="6583680" cy="2566857"/>
          </a:xfrm>
          <a:prstGeom prst="rect">
            <a:avLst/>
          </a:prstGeom>
          <a:noFill/>
        </p:spPr>
        <p:txBody>
          <a:bodyPr wrap="square" lIns="27432" tIns="27432" rIns="4572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Delivered substantially higher data rates than typical 3G networks.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Used </a:t>
            </a: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</a:rPr>
              <a:t>OFDMA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in the LTE downlink to improve radio resource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Used advanced antenna techniques, including MIMO.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Enabled smooth video streaming, video conferencing, and faster downloads.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Supported IP-based services, including VoLTE on compatible networks.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965960"/>
            <a:ext cx="3246120" cy="109728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19288" y="2084831"/>
            <a:ext cx="293522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500" b="1">
                <a:solidFill>
                  <a:srgbClr val="2DCDDA"/>
                </a:solidFill>
                <a:latin typeface="Aptos"/>
              </a:defRPr>
            </a:pPr>
            <a:r>
              <a:t>EVERYDAY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9288" y="2468880"/>
            <a:ext cx="2935224" cy="512063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F7FAFF"/>
                </a:solidFill>
                <a:latin typeface="Aptos"/>
              </a:defRPr>
            </a:pPr>
            <a:r>
              <a:t>HD streaming, video calls, online gaming and cloud apps.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337560"/>
            <a:ext cx="3246120" cy="109728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19288" y="3456432"/>
            <a:ext cx="293522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500" b="1">
                <a:solidFill>
                  <a:srgbClr val="43CCA0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3840480"/>
            <a:ext cx="2935224" cy="512063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F7FAFF"/>
                </a:solidFill>
                <a:latin typeface="Aptos"/>
              </a:defRPr>
            </a:pPr>
            <a:r>
              <a:t>Higher capacity and faster broadband than 3G.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709160"/>
            <a:ext cx="3246120" cy="91440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19288" y="4828032"/>
            <a:ext cx="293522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500" b="1">
                <a:solidFill>
                  <a:srgbClr val="FFB24C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5212080"/>
            <a:ext cx="2935224" cy="329184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F7FAFF"/>
                </a:solidFill>
                <a:latin typeface="Aptos"/>
              </a:defRPr>
            </a:pPr>
            <a:r>
              <a:t>Real speed depends on coverage, spectrum and congestion.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2700" b="1">
                <a:solidFill>
                  <a:srgbClr val="F7FAFF"/>
                </a:solidFill>
                <a:latin typeface="Aptos"/>
              </a:defRPr>
            </a:pPr>
            <a:r>
              <a:t>5G — Fifth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868680" cy="50292"/>
          </a:xfrm>
          <a:prstGeom prst="rect">
            <a:avLst/>
          </a:prstGeom>
          <a:solidFill>
            <a:srgbClr val="2DCDDA"/>
          </a:solidFill>
          <a:ln w="10160">
            <a:solidFill>
              <a:srgbClr val="2D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24712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B8C8DC"/>
                </a:solidFill>
                <a:latin typeface="Aptos"/>
              </a:defRPr>
            </a:pPr>
            <a:r>
              <a:t>Late 2010s onward · Broadband plus broader connectivity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86868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B8C8DC"/>
                </a:solidFill>
                <a:latin typeface="Aptos"/>
              </a:defRPr>
            </a:pPr>
            <a:r>
              <a:t>08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19072"/>
            <a:ext cx="1572768" cy="329184"/>
          </a:xfrm>
          <a:prstGeom prst="roundRect">
            <a:avLst/>
          </a:prstGeom>
          <a:solidFill>
            <a:srgbClr val="B18BF5"/>
          </a:solidFill>
          <a:ln w="10160">
            <a:solidFill>
              <a:srgbClr val="B18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2787"/>
            <a:ext cx="1517904" cy="265176"/>
          </a:xfrm>
          <a:prstGeom prst="rect">
            <a:avLst/>
          </a:prstGeom>
          <a:noFill/>
        </p:spPr>
        <p:txBody>
          <a:bodyPr wrap="square" lIns="36576" tIns="27432" rIns="36576" bIns="18288" anchor="ctr">
            <a:spAutoFit/>
          </a:bodyPr>
          <a:lstStyle/>
          <a:p>
            <a:pPr algn="ctr">
              <a:defRPr sz="1000" b="1">
                <a:solidFill>
                  <a:srgbClr val="F7FAFF"/>
                </a:solidFill>
                <a:latin typeface="Aptos"/>
              </a:defRPr>
            </a:pPr>
            <a:r>
              <a:t>5G NEW RADIO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67712"/>
            <a:ext cx="6629400" cy="1735860"/>
          </a:xfrm>
          <a:prstGeom prst="rect">
            <a:avLst/>
          </a:prstGeom>
          <a:noFill/>
        </p:spPr>
        <p:txBody>
          <a:bodyPr wrap="square" lIns="27432" tIns="27432" rIns="4572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Offers higher potential data rates than previous generations.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Can deliver lower latency in suitable network configurations.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Supports a large number of connected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Uses advanced antenna arrays and beamforming.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Can operate across low-, mid-, and high-frequency spectrum bands.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74519"/>
            <a:ext cx="3246120" cy="96012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19288" y="1993391"/>
            <a:ext cx="293522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400" b="1">
                <a:solidFill>
                  <a:srgbClr val="2DCDDA"/>
                </a:solidFill>
                <a:latin typeface="Aptos"/>
              </a:defRPr>
            </a:pPr>
            <a:r>
              <a:t>eMBB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9288" y="2377439"/>
            <a:ext cx="2935224" cy="374904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100" b="0">
                <a:solidFill>
                  <a:srgbClr val="F7FAFF"/>
                </a:solidFill>
                <a:latin typeface="Aptos"/>
              </a:defRPr>
            </a:pPr>
            <a:r>
              <a:t>Enhanced mobile broadband for high-data-rate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035808"/>
            <a:ext cx="3246120" cy="96012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19288" y="3154679"/>
            <a:ext cx="293522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400" b="1">
                <a:solidFill>
                  <a:srgbClr val="FFB24C"/>
                </a:solidFill>
                <a:latin typeface="Aptos"/>
              </a:defRPr>
            </a:pPr>
            <a:r>
              <a:t>URLLC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3538728"/>
            <a:ext cx="2935224" cy="374904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100" b="0">
                <a:solidFill>
                  <a:srgbClr val="F7FAFF"/>
                </a:solidFill>
                <a:latin typeface="Aptos"/>
              </a:defRPr>
            </a:pPr>
            <a:r>
              <a:t>Targets reliable, low-latency communication in suitable deployments.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197096"/>
            <a:ext cx="3246120" cy="96012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19288" y="4315968"/>
            <a:ext cx="293522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400" b="1">
                <a:solidFill>
                  <a:srgbClr val="43CCA0"/>
                </a:solidFill>
                <a:latin typeface="Aptos"/>
              </a:defRPr>
            </a:pPr>
            <a:r>
              <a:t>mMTC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4700016"/>
            <a:ext cx="2935224" cy="374904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100" b="0">
                <a:solidFill>
                  <a:srgbClr val="F7FAFF"/>
                </a:solidFill>
                <a:latin typeface="Aptos"/>
              </a:defRPr>
            </a:pPr>
            <a:r>
              <a:t>Supports scenarios with very large numbers of connected devices.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5394960"/>
            <a:ext cx="32004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000" b="0">
                <a:solidFill>
                  <a:srgbClr val="B8C8DC"/>
                </a:solidFill>
                <a:latin typeface="Aptos"/>
              </a:defRPr>
            </a:pPr>
            <a:r>
              <a:t>These are service categories and design goals; capabilities depend on implementation.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72800" cy="461665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2700" b="1">
                <a:solidFill>
                  <a:srgbClr val="F7FAFF"/>
                </a:solidFill>
                <a:latin typeface="Aptos"/>
              </a:defRPr>
            </a:pPr>
            <a:r>
              <a:rPr dirty="0"/>
              <a:t>1G to 5G — </a:t>
            </a:r>
            <a:r>
              <a:rPr lang="en-IN" dirty="0"/>
              <a:t>A Comparison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868680" cy="50292"/>
          </a:xfrm>
          <a:prstGeom prst="rect">
            <a:avLst/>
          </a:prstGeom>
          <a:solidFill>
            <a:srgbClr val="2DCDDA"/>
          </a:solidFill>
          <a:ln w="10160">
            <a:solidFill>
              <a:srgbClr val="2D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24712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B8C8DC"/>
                </a:solidFill>
                <a:latin typeface="Aptos"/>
              </a:defRPr>
            </a:pPr>
            <a:r>
              <a:t>A quick comparison of each generation's main contribution.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86868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B8C8DC"/>
                </a:solidFill>
                <a:latin typeface="Aptos"/>
              </a:defRPr>
            </a:pPr>
            <a:r>
              <a:t>09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828800"/>
            <a:ext cx="1554480" cy="621792"/>
          </a:xfrm>
          <a:prstGeom prst="rect">
            <a:avLst/>
          </a:prstGeom>
          <a:solidFill>
            <a:srgbClr val="488BE6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rtlCol="0" anchor="ctr"/>
          <a:lstStyle/>
          <a:p>
            <a:pPr algn="ctr">
              <a:defRPr sz="1400" b="1">
                <a:solidFill>
                  <a:srgbClr val="F7FAFF"/>
                </a:solidFill>
                <a:latin typeface="Aptos"/>
              </a:defRPr>
            </a:pPr>
            <a:r>
              <a:t>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4288" y="1828800"/>
            <a:ext cx="3657600" cy="621792"/>
          </a:xfrm>
          <a:prstGeom prst="rect">
            <a:avLst/>
          </a:prstGeom>
          <a:solidFill>
            <a:srgbClr val="488BE6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rtlCol="0" anchor="ctr"/>
          <a:lstStyle/>
          <a:p>
            <a:pPr algn="ctr">
              <a:defRPr sz="1400" b="1">
                <a:solidFill>
                  <a:srgbClr val="F7FAFF"/>
                </a:solidFill>
                <a:latin typeface="Aptos"/>
              </a:defRPr>
            </a:pPr>
            <a:r>
              <a:t>Main shift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61888" y="1828800"/>
            <a:ext cx="5074920" cy="621792"/>
          </a:xfrm>
          <a:prstGeom prst="rect">
            <a:avLst/>
          </a:prstGeom>
          <a:solidFill>
            <a:srgbClr val="488BE6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rtlCol="0" anchor="ctr"/>
          <a:lstStyle/>
          <a:p>
            <a:pPr algn="ctr">
              <a:defRPr sz="1400" b="1">
                <a:solidFill>
                  <a:srgbClr val="F7FAFF"/>
                </a:solidFill>
                <a:latin typeface="Aptos"/>
              </a:defRPr>
            </a:pPr>
            <a:r>
              <a:t>Typical services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450592"/>
            <a:ext cx="1554480" cy="621792"/>
          </a:xfrm>
          <a:prstGeom prst="rect">
            <a:avLst/>
          </a:prstGeom>
          <a:solidFill>
            <a:srgbClr val="162A46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rtlCol="0" anchor="ctr"/>
          <a:lstStyle/>
          <a:p>
            <a:pPr algn="ctr">
              <a:defRPr sz="1300" b="1">
                <a:solidFill>
                  <a:srgbClr val="F7FAFF"/>
                </a:solidFill>
                <a:latin typeface="Aptos"/>
              </a:defRPr>
            </a:pPr>
            <a:r>
              <a:t>1G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4288" y="2450592"/>
            <a:ext cx="3657600" cy="621792"/>
          </a:xfrm>
          <a:prstGeom prst="rect">
            <a:avLst/>
          </a:prstGeom>
          <a:solidFill>
            <a:srgbClr val="162A46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rtlCol="0" anchor="ctr"/>
          <a:lstStyle/>
          <a:p>
            <a:pPr algn="ctr">
              <a:defRPr sz="1300" b="0">
                <a:solidFill>
                  <a:srgbClr val="F7FAFF"/>
                </a:solidFill>
                <a:latin typeface="Aptos"/>
              </a:defRPr>
            </a:pPr>
            <a:r>
              <a:t>Analogue cellular voice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1888" y="2450592"/>
            <a:ext cx="5074920" cy="621792"/>
          </a:xfrm>
          <a:prstGeom prst="rect">
            <a:avLst/>
          </a:prstGeom>
          <a:solidFill>
            <a:srgbClr val="162A46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rtlCol="0" anchor="ctr"/>
          <a:lstStyle/>
          <a:p>
            <a:pPr algn="ctr">
              <a:defRPr sz="1300" b="0">
                <a:solidFill>
                  <a:srgbClr val="F7FAFF"/>
                </a:solidFill>
                <a:latin typeface="Aptos"/>
              </a:defRPr>
            </a:pPr>
            <a:r>
              <a:t>Voice calls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072384"/>
            <a:ext cx="1554480" cy="621792"/>
          </a:xfrm>
          <a:prstGeom prst="rect">
            <a:avLst/>
          </a:prstGeom>
          <a:solidFill>
            <a:srgbClr val="1C3556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rtlCol="0" anchor="ctr"/>
          <a:lstStyle/>
          <a:p>
            <a:pPr algn="ctr">
              <a:defRPr sz="1300" b="1">
                <a:solidFill>
                  <a:srgbClr val="F7FAFF"/>
                </a:solidFill>
                <a:latin typeface="Aptos"/>
              </a:defRPr>
            </a:pPr>
            <a:r>
              <a:t>2G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8" y="3072384"/>
            <a:ext cx="3657600" cy="621792"/>
          </a:xfrm>
          <a:prstGeom prst="rect">
            <a:avLst/>
          </a:prstGeom>
          <a:solidFill>
            <a:srgbClr val="1C3556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rtlCol="0" anchor="ctr"/>
          <a:lstStyle/>
          <a:p>
            <a:pPr algn="ctr">
              <a:defRPr sz="1300" b="0">
                <a:solidFill>
                  <a:srgbClr val="F7FAFF"/>
                </a:solidFill>
                <a:latin typeface="Aptos"/>
              </a:defRPr>
            </a:pPr>
            <a:r>
              <a:t>Digital voice and messaging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61888" y="3072384"/>
            <a:ext cx="5074920" cy="621792"/>
          </a:xfrm>
          <a:prstGeom prst="rect">
            <a:avLst/>
          </a:prstGeom>
          <a:solidFill>
            <a:srgbClr val="1C3556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rtlCol="0" anchor="ctr"/>
          <a:lstStyle/>
          <a:p>
            <a:pPr algn="ctr">
              <a:defRPr sz="1300" b="0">
                <a:solidFill>
                  <a:srgbClr val="F7FAFF"/>
                </a:solidFill>
                <a:latin typeface="Aptos"/>
              </a:defRPr>
            </a:pPr>
            <a:r>
              <a:t>Calls, SMS, basic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3694176"/>
            <a:ext cx="1554480" cy="621792"/>
          </a:xfrm>
          <a:prstGeom prst="rect">
            <a:avLst/>
          </a:prstGeom>
          <a:solidFill>
            <a:srgbClr val="162A46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rtlCol="0" anchor="ctr"/>
          <a:lstStyle/>
          <a:p>
            <a:pPr algn="ctr">
              <a:defRPr sz="1300" b="1">
                <a:solidFill>
                  <a:srgbClr val="F7FAFF"/>
                </a:solidFill>
                <a:latin typeface="Aptos"/>
              </a:defRPr>
            </a:pPr>
            <a:r>
              <a:t>3G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04288" y="3694176"/>
            <a:ext cx="3657600" cy="621792"/>
          </a:xfrm>
          <a:prstGeom prst="rect">
            <a:avLst/>
          </a:prstGeom>
          <a:solidFill>
            <a:srgbClr val="162A46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rtlCol="0" anchor="ctr"/>
          <a:lstStyle/>
          <a:p>
            <a:pPr algn="ctr">
              <a:defRPr sz="1300" b="0">
                <a:solidFill>
                  <a:srgbClr val="F7FAFF"/>
                </a:solidFill>
                <a:latin typeface="Aptos"/>
              </a:defRPr>
            </a:pPr>
            <a:r>
              <a:t>Improved mobile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61888" y="3694176"/>
            <a:ext cx="5074920" cy="621792"/>
          </a:xfrm>
          <a:prstGeom prst="rect">
            <a:avLst/>
          </a:prstGeom>
          <a:solidFill>
            <a:srgbClr val="162A46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rtlCol="0" anchor="ctr"/>
          <a:lstStyle/>
          <a:p>
            <a:pPr algn="ctr">
              <a:defRPr sz="1300" b="0">
                <a:solidFill>
                  <a:srgbClr val="F7FAFF"/>
                </a:solidFill>
                <a:latin typeface="Aptos"/>
              </a:defRPr>
            </a:pPr>
            <a:r>
              <a:t>Web, email, multimedia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4315968"/>
            <a:ext cx="1554480" cy="621792"/>
          </a:xfrm>
          <a:prstGeom prst="rect">
            <a:avLst/>
          </a:prstGeom>
          <a:solidFill>
            <a:srgbClr val="1C3556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rtlCol="0" anchor="ctr"/>
          <a:lstStyle/>
          <a:p>
            <a:pPr algn="ctr">
              <a:defRPr sz="1300" b="1">
                <a:solidFill>
                  <a:srgbClr val="F7FAFF"/>
                </a:solidFill>
                <a:latin typeface="Aptos"/>
              </a:defRPr>
            </a:pPr>
            <a:r>
              <a:t>4G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288" y="4315968"/>
            <a:ext cx="3657600" cy="621792"/>
          </a:xfrm>
          <a:prstGeom prst="rect">
            <a:avLst/>
          </a:prstGeom>
          <a:solidFill>
            <a:srgbClr val="1C3556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rtlCol="0" anchor="ctr"/>
          <a:lstStyle/>
          <a:p>
            <a:pPr algn="ctr">
              <a:defRPr sz="1300" b="0">
                <a:solidFill>
                  <a:srgbClr val="F7FAFF"/>
                </a:solidFill>
                <a:latin typeface="Aptos"/>
              </a:defRPr>
            </a:pPr>
            <a:r>
              <a:t>High-speed IP broadband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61888" y="4315968"/>
            <a:ext cx="5074920" cy="621792"/>
          </a:xfrm>
          <a:prstGeom prst="rect">
            <a:avLst/>
          </a:prstGeom>
          <a:solidFill>
            <a:srgbClr val="1C3556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rtlCol="0" anchor="ctr"/>
          <a:lstStyle/>
          <a:p>
            <a:pPr algn="ctr">
              <a:defRPr sz="1300" b="0">
                <a:solidFill>
                  <a:srgbClr val="F7FAFF"/>
                </a:solidFill>
                <a:latin typeface="Aptos"/>
              </a:defRPr>
            </a:pPr>
            <a:r>
              <a:t>Streaming, apps, VoLTE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4937760"/>
            <a:ext cx="1554480" cy="621792"/>
          </a:xfrm>
          <a:prstGeom prst="rect">
            <a:avLst/>
          </a:prstGeom>
          <a:solidFill>
            <a:srgbClr val="162A46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rtlCol="0" anchor="ctr"/>
          <a:lstStyle/>
          <a:p>
            <a:pPr algn="ctr">
              <a:defRPr sz="1300" b="1">
                <a:solidFill>
                  <a:srgbClr val="F7FAFF"/>
                </a:solidFill>
                <a:latin typeface="Aptos"/>
              </a:defRPr>
            </a:pPr>
            <a:r>
              <a:t>5G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04288" y="4937760"/>
            <a:ext cx="3657600" cy="621792"/>
          </a:xfrm>
          <a:prstGeom prst="rect">
            <a:avLst/>
          </a:prstGeom>
          <a:solidFill>
            <a:srgbClr val="162A46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rtlCol="0" anchor="ctr"/>
          <a:lstStyle/>
          <a:p>
            <a:pPr algn="ctr">
              <a:defRPr sz="1300" b="0">
                <a:solidFill>
                  <a:srgbClr val="F7FAFF"/>
                </a:solidFill>
                <a:latin typeface="Aptos"/>
              </a:defRPr>
            </a:pPr>
            <a:r>
              <a:t>Flexible broadband + connected devices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61888" y="4937760"/>
            <a:ext cx="5074920" cy="621792"/>
          </a:xfrm>
          <a:prstGeom prst="rect">
            <a:avLst/>
          </a:prstGeom>
          <a:solidFill>
            <a:srgbClr val="162A46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rtlCol="0" anchor="ctr"/>
          <a:lstStyle/>
          <a:p>
            <a:pPr algn="ctr">
              <a:defRPr sz="1300" b="0">
                <a:solidFill>
                  <a:srgbClr val="F7FAFF"/>
                </a:solidFill>
                <a:latin typeface="Aptos"/>
              </a:defRPr>
            </a:pPr>
            <a:r>
              <a:t>High capacity, IoT, low-latency use cases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97880"/>
            <a:ext cx="10424160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100" b="0">
                <a:solidFill>
                  <a:srgbClr val="B8C8DC"/>
                </a:solidFill>
                <a:latin typeface="Aptos"/>
              </a:defRPr>
            </a:pPr>
            <a:r>
              <a:t>Performance varies with spectrum, signal strength, device capability, deployment and network load.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5760"/>
            <a:ext cx="10972800" cy="461665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2700" b="1">
                <a:solidFill>
                  <a:srgbClr val="F7FAFF"/>
                </a:solidFill>
                <a:latin typeface="Aptos"/>
              </a:defRPr>
            </a:pPr>
            <a:r>
              <a:rPr dirty="0"/>
              <a:t>Conclusion 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868680" cy="50292"/>
          </a:xfrm>
          <a:prstGeom prst="rect">
            <a:avLst/>
          </a:prstGeom>
          <a:solidFill>
            <a:srgbClr val="2DCDDA"/>
          </a:solidFill>
          <a:ln w="10160">
            <a:solidFill>
              <a:srgbClr val="2D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24712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B8C8DC"/>
                </a:solidFill>
                <a:latin typeface="Aptos"/>
              </a:defRPr>
            </a:pPr>
            <a:r>
              <a:t>Every generation expanded what mobile networks could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86868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B8C8DC"/>
                </a:solidFill>
                <a:latin typeface="Aptos"/>
              </a:defRPr>
            </a:pPr>
            <a: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400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2500" b="1">
                <a:solidFill>
                  <a:srgbClr val="2DCDDA"/>
                </a:solidFill>
                <a:latin typeface="Aptos"/>
              </a:defRPr>
            </a:pPr>
            <a:r>
              <a:t>From voice to connected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6629400" cy="2926080"/>
          </a:xfrm>
          <a:prstGeom prst="rect">
            <a:avLst/>
          </a:prstGeom>
          <a:noFill/>
        </p:spPr>
        <p:txBody>
          <a:bodyPr wrap="square" lIns="27432" tIns="27432" r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7FAFF"/>
                </a:solidFill>
                <a:latin typeface="Aptos"/>
              </a:defRPr>
            </a:pPr>
            <a:r>
              <a:t>1G introduced analogue mobile voice.</a:t>
            </a:r>
          </a:p>
          <a:p>
            <a:pPr>
              <a:spcAft>
                <a:spcPts val="1000"/>
              </a:spcAft>
              <a:defRPr sz="1500">
                <a:solidFill>
                  <a:srgbClr val="F7FAFF"/>
                </a:solidFill>
                <a:latin typeface="Aptos"/>
              </a:defRPr>
            </a:pPr>
            <a:r>
              <a:t>2G brought digital communication and SMS.</a:t>
            </a:r>
          </a:p>
          <a:p>
            <a:pPr>
              <a:spcAft>
                <a:spcPts val="1000"/>
              </a:spcAft>
              <a:defRPr sz="1500">
                <a:solidFill>
                  <a:srgbClr val="F7FAFF"/>
                </a:solidFill>
                <a:latin typeface="Aptos"/>
              </a:defRPr>
            </a:pPr>
            <a:r>
              <a:t>3G made mobile internet more practical.</a:t>
            </a:r>
          </a:p>
          <a:p>
            <a:pPr>
              <a:spcAft>
                <a:spcPts val="1000"/>
              </a:spcAft>
              <a:defRPr sz="1500">
                <a:solidFill>
                  <a:srgbClr val="F7FAFF"/>
                </a:solidFill>
                <a:latin typeface="Aptos"/>
              </a:defRPr>
            </a:pPr>
            <a:r>
              <a:t>4G delivered mainstream high-speed mobile broadband.</a:t>
            </a:r>
          </a:p>
          <a:p>
            <a:pPr>
              <a:spcAft>
                <a:spcPts val="1000"/>
              </a:spcAft>
              <a:defRPr sz="1500">
                <a:solidFill>
                  <a:srgbClr val="F7FAFF"/>
                </a:solidFill>
                <a:latin typeface="Aptos"/>
              </a:defRPr>
            </a:pPr>
            <a:r>
              <a:t>5G extends broadband while supporting broader device and service requirements.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240280"/>
            <a:ext cx="3246120" cy="1234440"/>
          </a:xfrm>
          <a:prstGeom prst="roundRect">
            <a:avLst/>
          </a:prstGeom>
          <a:solidFill>
            <a:srgbClr val="162A46"/>
          </a:solidFill>
          <a:ln w="10160"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65008" y="2359152"/>
            <a:ext cx="2935224" cy="31089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500" b="1">
                <a:solidFill>
                  <a:srgbClr val="FFB24C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2743200"/>
            <a:ext cx="2935224" cy="649224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F7FAFF"/>
                </a:solidFill>
                <a:latin typeface="Aptos"/>
              </a:defRPr>
            </a:pPr>
            <a:r>
              <a:t>The evolution reflects growing demand for speed, capacity, reliability and new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894</Words>
  <Application>Microsoft Office PowerPoint</Application>
  <PresentationFormat>Widescreen</PresentationFormat>
  <Paragraphs>159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Dharani Nivash</cp:lastModifiedBy>
  <cp:revision>15</cp:revision>
  <dcterms:created xsi:type="dcterms:W3CDTF">2013-01-27T09:14:16Z</dcterms:created>
  <dcterms:modified xsi:type="dcterms:W3CDTF">2026-10-15T08:54:54Z</dcterms:modified>
  <cp:category/>
</cp:coreProperties>
</file>